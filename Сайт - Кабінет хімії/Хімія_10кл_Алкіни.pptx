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B45309">
              <a:alpha val="22000"/>
            </a:srgbClr>
          </a:solidFill>
          <a:ln w="12700">
            <a:solidFill>
              <a:srgbClr val="B45309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114800" cy="41148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38912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389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ХІМІЯ • 10 КЛАС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93268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Алкіни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buNone/>
            </a:pPr>
            <a:r>
              <a:rPr lang="en-US" sz="3600" b="1" baseline="-40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indent="0" marL="0">
              <a:buNone/>
            </a:pPr>
            <a:r>
              <a:rPr lang="en-US" sz="3600" b="1" baseline="-40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2n-2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33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4"/>
                </a:solidFill>
              </a:rPr>
              <a:t>Загальна та молекулярні формули, структурна ізомерія, систематична номенклатура.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182112"/>
            <a:ext cx="1591056" cy="475488"/>
          </a:xfrm>
          <a:prstGeom prst="roundRect">
            <a:avLst>
              <a:gd name="adj" fmla="val 15385"/>
            </a:avLst>
          </a:prstGeom>
          <a:solidFill>
            <a:srgbClr val="B45309">
              <a:alpha val="45000"/>
            </a:srgbClr>
          </a:solidFill>
          <a:ln w="12700">
            <a:solidFill>
              <a:srgbClr val="B45309">
                <a:alpha val="6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18211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CₙH₂ₙ₋₂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21992" y="3182112"/>
            <a:ext cx="1591056" cy="475488"/>
          </a:xfrm>
          <a:prstGeom prst="roundRect">
            <a:avLst>
              <a:gd name="adj" fmla="val 15385"/>
            </a:avLst>
          </a:prstGeom>
          <a:solidFill>
            <a:srgbClr val="0891B2">
              <a:alpha val="45000"/>
            </a:srgbClr>
          </a:solidFill>
          <a:ln w="12700">
            <a:solidFill>
              <a:srgbClr val="0891B2">
                <a:alpha val="6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318211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sp-гібридизація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41064" y="3182112"/>
            <a:ext cx="1591056" cy="475488"/>
          </a:xfrm>
          <a:prstGeom prst="roundRect">
            <a:avLst>
              <a:gd name="adj" fmla="val 15385"/>
            </a:avLst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62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41064" y="318211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Гомологи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0136" y="3182112"/>
            <a:ext cx="1591056" cy="475488"/>
          </a:xfrm>
          <a:prstGeom prst="roundRect">
            <a:avLst>
              <a:gd name="adj" fmla="val 15385"/>
            </a:avLst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6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0136" y="318211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Ізомерія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79208" y="3182112"/>
            <a:ext cx="1591056" cy="475488"/>
          </a:xfrm>
          <a:prstGeom prst="roundRect">
            <a:avLst>
              <a:gd name="adj" fmla="val 15385"/>
            </a:avLst>
          </a:prstGeom>
          <a:solidFill>
            <a:srgbClr val="059669">
              <a:alpha val="45000"/>
            </a:srgbClr>
          </a:solidFill>
          <a:ln w="12700">
            <a:solidFill>
              <a:srgbClr val="059669">
                <a:alpha val="6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79208" y="3182112"/>
            <a:ext cx="15910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IUPAC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773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Урок органічної хімії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3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Зміст уроку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5488" y="10881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0881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Алкіни серед вуглеводнів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15568" y="1508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Місце в класифікації, відмінність від алкенів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" y="2386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2386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Загальна формула CₙH₂ₙ₋₂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2807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Будова етину, sp-гібридизація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36850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6850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Гомологічний ряд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41056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Етин — децин, гомологічна різниця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960120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10881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1088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50408" y="108813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Номенклатура IUPAC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50408" y="15087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5-крокова схема для алкінів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00600" y="2258568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0328" y="23865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50408" y="2386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Структурна ізомерія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50408" y="28072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Ланцюгова, положення зв'язку (без цис-транс)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557016"/>
            <a:ext cx="42062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685032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685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50408" y="368503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Хімічні властивості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50408" y="41056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Приєднання у дві стадії, одержання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37"/>
          </a:solidFill>
          <a:ln w="12700">
            <a:solidFill>
              <a:srgbClr val="0F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Алкіни серед вуглеводнів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7552"/>
            <a:ext cx="8595360" cy="2862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977640"/>
            <a:ext cx="8595360" cy="868680"/>
          </a:xfrm>
          <a:prstGeom prst="roundRect">
            <a:avLst>
              <a:gd name="adj" fmla="val 12632"/>
            </a:avLst>
          </a:prstGeom>
          <a:solidFill>
            <a:srgbClr val="FFFBEB"/>
          </a:solidFill>
          <a:ln w="12700">
            <a:solidFill>
              <a:srgbClr val="B45309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" y="40507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Алкіни — ненасичені вуглеводні з одним потрійним зв'язком C≡C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4343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На відміну від алкенів (один σ+π зв'язок), алкіни мають σ+2π зв'язки — ще одне реакційноздатне місце для приєднання.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Загальна формула алкінів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" y="868680"/>
            <a:ext cx="4114800" cy="1024128"/>
          </a:xfrm>
          <a:prstGeom prst="roundRect">
            <a:avLst>
              <a:gd name="adj" fmla="val 14286"/>
            </a:avLst>
          </a:prstGeom>
          <a:solidFill>
            <a:srgbClr val="0F2337"/>
          </a:solidFill>
          <a:ln w="12700">
            <a:solidFill>
              <a:srgbClr val="0F23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68680"/>
            <a:ext cx="41148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algn="ctr" indent="0" marL="0">
              <a:buNone/>
            </a:pPr>
            <a:r>
              <a:rPr lang="en-US" sz="4400" b="1" baseline="-40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algn="ctr" indent="0" marL="0">
              <a:buNone/>
            </a:pPr>
            <a:r>
              <a:rPr lang="en-US" sz="4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pPr algn="ctr" indent="0" marL="0">
              <a:buNone/>
            </a:pPr>
            <a:r>
              <a:rPr lang="en-US" sz="4400" b="1" baseline="-40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2n-2</a:t>
            </a:r>
            <a:endParaRPr lang="en-US" sz="4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5152" y="804672"/>
            <a:ext cx="416052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202996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20624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87552" y="20848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n — число атомів C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87552" y="23774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При n=2: C₂H₂ (етин), n=3: C₃H₄ (пропін)…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7472" y="277977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20624" y="2852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87552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</a:rPr>
              <a:t>Один C≡C зв'язок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31272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σ+2π зв'язки між двома сусідніми атомами C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47472" y="3529584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20624" y="3602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⚛️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987552" y="35844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sp-гібридизація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7552" y="38770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Лінійна будова навколо C≡C, кут =180°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47472" y="427939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20624" y="4352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987552" y="43342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Найвища реакційність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87552" y="462686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Два π-зв'язки — приєднання можливе у дві стадії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Гомологічний ряд алкінів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Перший представник — етин (мінімум 2 атоми C для потрійного зв'язку)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70432"/>
            <a:ext cx="8595360" cy="34015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66344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466344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37"/>
                </a:solidFill>
              </a:rPr>
              <a:t>Назви перших алкінів: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етин, пропін, бутин, пентин, гексин, гептин, октин, нонін, децин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3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Номенклатура IUPAC для алкінів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5-крокова схема, схожа на алкени, але з позицією C≡C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8595360" cy="31272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343400"/>
            <a:ext cx="8595360" cy="658368"/>
          </a:xfrm>
          <a:prstGeom prst="roundRect">
            <a:avLst>
              <a:gd name="adj" fmla="val 13889"/>
            </a:avLst>
          </a:prstGeom>
          <a:solidFill>
            <a:srgbClr val="FFFBEB"/>
          </a:solidFill>
          <a:ln w="12700">
            <a:solidFill>
              <a:srgbClr val="B45309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34340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</a:rPr>
              <a:t>💡 Пам'ятка: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суфікс усіх алкінів — </a:t>
            </a:r>
            <a:pPr indent="0" marL="0">
              <a:buNone/>
            </a:pPr>
            <a:r>
              <a:rPr lang="en-US" sz="1200" b="1" dirty="0">
                <a:solidFill>
                  <a:srgbClr val="0F2337"/>
                </a:solidFill>
              </a:rPr>
              <a:t>-ин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 |  Номер ставиться перед суфіксом: бут-1-ин, пент-2-ин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Важливі правила номенклатури алкінів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7552"/>
            <a:ext cx="85953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886200"/>
            <a:ext cx="8595360" cy="960120"/>
          </a:xfrm>
          <a:prstGeom prst="roundRect">
            <a:avLst>
              <a:gd name="adj" fmla="val 1142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" y="39593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Приклад застосування правила: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4251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CH₃−CH₂−C≡C−CH₃ → нумерація зліва (де C≡C ближче) дає пент-2-ин, а не пент-3-ин (менший номер!)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Крок за кроком: 3-метилбут-1-ин</a:t>
            </a:r>
            <a:endParaRPr lang="en-US" sz="2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34015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43484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44348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B8A6"/>
                </a:solidFill>
              </a:rPr>
              <a:t>⚠️ Зверни увагу: нумерація обов'язково починається з кінця, ближчого до потрійного зв'язку, а не до замісника!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Ізомерія положення потрійного зв'язку: C₄H₆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87552"/>
            <a:ext cx="8595360" cy="2862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977640"/>
            <a:ext cx="8595360" cy="868680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8912" y="4050792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337"/>
                </a:solidFill>
              </a:rPr>
              <a:t>Особливість ізомерії алкінів: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положення потрійного зв'язку в ланцюгу — як і в алкенів. Але цис-транс ізомерії немає: лінійна будова не залишає місця для просторових ізомерів.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64592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3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Структурна ізомерія: C₅H₈ (усі 3 ізомери)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Комбінація ізомерії ланцюга та положення зв'язку — лише 3 ізомери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15568"/>
            <a:ext cx="8595360" cy="297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20624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38912" y="42062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Типи ізомерії, що поєднуються: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1) розгалуженість ланцюга  2) положення C≡C  3) розгалуження неможливе біля sp-атомів Карбону — тому ізомерів менше, ніж у алкенів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Хімічні властивості алкінів: приєднання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60120"/>
            <a:ext cx="8595360" cy="28620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3950208"/>
            <a:ext cx="8595360" cy="914400"/>
          </a:xfrm>
          <a:prstGeom prst="roundRect">
            <a:avLst>
              <a:gd name="adj" fmla="val 12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8912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</a:rPr>
              <a:t>Здатність до приєднання: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8912" y="4315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Два π-зв'язки дозволяють алкінам приєднувати реагенти у ДВІ стадії — на відміну від однієї стадії в алкенів і жодної в алканів.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37"/>
          </a:solidFill>
          <a:ln w="12700">
            <a:solidFill>
              <a:srgbClr val="0F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Алкени vs Алкіни: порівняння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841248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Характеристика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Алкени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Алкіни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3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Загальна формула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CₙH₂ₙ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CₙH₂ₙ₋₂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Тип зв'язку C–C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Один σ+π (C=C)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σ+2π (C≡C)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Гібридизація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sp² (≈120°)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sp (180°)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Реакційність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Висока (реакції приєднання)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Дуже висока (2 стадії приєднання)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Суфікс назви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-ен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-ин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Перший представник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Етен C₂H₄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Етин C₂H₂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8006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2700">
            <a:solidFill>
              <a:srgbClr val="B45309">
                <a:alpha val="6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800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</a:rPr>
              <a:t>Другий π-зв'язок — причина лінійної будови та вищої реакційної здатності алкінів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371600"/>
            <a:ext cx="5029200" cy="5029200"/>
          </a:xfrm>
          <a:prstGeom prst="ellipse">
            <a:avLst/>
          </a:prstGeom>
          <a:solidFill>
            <a:srgbClr val="B45309">
              <a:alpha val="18000"/>
            </a:srgbClr>
          </a:solidFill>
          <a:ln w="12700">
            <a:solidFill>
              <a:srgbClr val="B45309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926080"/>
            <a:ext cx="3840480" cy="384048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B45309">
              <a:alpha val="20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260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Домашнє завдання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143000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43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337"/>
                </a:solidFill>
              </a:rPr>
              <a:t>!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170432" y="125272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0D9488">
              <a:alpha val="72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12527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Параграф 7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33472" y="123444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Опрацювати параграф підручника про алкіни. Вивчити загальну формулу CₙH₂ₙ₋₂, особливості sp-гібридизації, правила номенклатури IUPAC для алкінів.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0574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170432" y="216712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B45309">
              <a:alpha val="45000"/>
            </a:srgbClr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Завдання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33472" y="214884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Написати структурні формули та назвати за IUPAC всі ізомери пентину C₅H₈ (3 ізомери: за положенням та розгалуженням).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29718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54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170432" y="308152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70432" y="3081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Завдання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33472" y="306324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За назвами побудувати структурні формули: а) пент-2-ин;  б) 4-метилпент-1-ин;  в) 3-метилбут-1-ин.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88620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69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1170432" y="3995928"/>
            <a:ext cx="1371600" cy="274320"/>
          </a:xfrm>
          <a:prstGeom prst="roundRect">
            <a:avLst>
              <a:gd name="adj" fmla="val 20000"/>
            </a:avLst>
          </a:prstGeom>
          <a:solidFill>
            <a:srgbClr val="4F46E5">
              <a:alpha val="45000"/>
            </a:srgbClr>
          </a:solidFill>
          <a:ln w="12700">
            <a:solidFill>
              <a:srgbClr val="4F46E5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70432" y="39959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Завдання 3*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33472" y="3977640"/>
            <a:ext cx="5989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(Додаткове) Скільки структурних ізомерів має гексин C₆H₁₀? Намалювати щонайменше 3 та назвати за IUPAC.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84632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B45309">
              <a:alpha val="18000"/>
            </a:srgbClr>
          </a:solidFill>
          <a:ln w="12700">
            <a:solidFill>
              <a:srgbClr val="B45309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846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📅 Термін: наступний урок  |  Користуйся 5-кроковим алгоритмом IUPAC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337"/>
          </a:solidFill>
          <a:ln w="12700">
            <a:solidFill>
              <a:srgbClr val="0F23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Підсумок уроку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Сьогодні ми вивчили: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8132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61288" y="14813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37"/>
                </a:solidFill>
              </a:rPr>
              <a:t>Алкіни серед вуглеводнів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61288" y="18653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Ненасичені, один C≡C зв'язок, відмінні від алкенів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92040" y="1389888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481328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33288" y="148132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37"/>
                </a:solidFill>
              </a:rPr>
              <a:t>Формула алкінів CₙH₂ₙ₋₂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33288" y="186537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sp-гібридизація, лінійна будова, кут 180°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6517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61288" y="26517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37"/>
                </a:solidFill>
              </a:rPr>
              <a:t>Гомологічний ряд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61288" y="30358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Етин → децин. Гомологічна різниця –CH₂–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560320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2651760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33288" y="26517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37"/>
                </a:solidFill>
              </a:rPr>
              <a:t>Номенклатура IUPAC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33288" y="303580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Суфікс -ин, номер позиції C≡C перед суфіксом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730752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3822192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🔁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161288" y="38221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37"/>
                </a:solidFill>
              </a:rPr>
              <a:t>Структурна ізомерія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61288" y="42062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Ланцюгова + положення зв'язку — без цис-транс ізомерії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3730752"/>
            <a:ext cx="4297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822192"/>
            <a:ext cx="6858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⚗️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33288" y="3822192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337"/>
                </a:solidFill>
              </a:rPr>
              <a:t>Хімічні властивості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33288" y="42062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Два π-зв'язки — приєднання у дві стадії (Кучеров, галогенування)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739452"/>
            <a:ext cx="85039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2700">
            <a:solidFill>
              <a:srgbClr val="B45309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394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«Потрійний зв'язок — подвійна причина хімічної активності алкінів»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Алкени: формули, ізомерія, номенклатура</dc:title>
  <dc:subject>PptxGenJS Presentation</dc:subject>
  <dc:creator>PptxGenJS</dc:creator>
  <cp:lastModifiedBy>PptxGenJS</cp:lastModifiedBy>
  <cp:revision>1</cp:revision>
  <dcterms:created xsi:type="dcterms:W3CDTF">2026-06-24T08:10:31Z</dcterms:created>
  <dcterms:modified xsi:type="dcterms:W3CDTF">2026-06-24T08:10:31Z</dcterms:modified>
</cp:coreProperties>
</file>